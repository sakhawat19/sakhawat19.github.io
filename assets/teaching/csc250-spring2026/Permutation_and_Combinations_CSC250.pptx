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OpenStax Contemporary Mathematics, Section 7.2 “Permutations” (definitions &amp; formulas): https://openstax.org/books/contemporary-mathematics/pages/7-2-permutations
- Khan Academy (overview of permutations vs combinations): https://www.khanacademy.org/math/statistics-probability/counting-permutations-and-combinations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OpenStax Contemporary Mathematics, Section 7.2 “Permutations” (notation, factorial use): https://openstax.org/books/contemporary-mathematics/pages/7-2-permutations
- Khan Academy (definitions &amp; distinctions): https://www.khanacademy.org/math/statistics-probability/counting-permutations-and-combinations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OpenStax Contemporary Mathematics, Section 7.2 “Permutations” (factorials and counting sequences): https://openstax.org/books/contemporary-mathematics/pages/7-2-permutations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OpenStax Contemporary Mathematics, Section 7.2 “Permutations” (definition and nPr formula): https://openstax.org/books/contemporary-mathematics/pages/7-2-permutations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OpenStax Contemporary Mathematics, Section 7.2 “Permutations” (factorials &amp; counting logic; repetition handled via counting principle and dividing by repeats as standard combinatorics approach): https://openstax.org/books/contemporary-mathematics/pages/7-2-permutations
- Khan Academy (counting with repeats via multiplication principle): https://www.khanacademy.org/math/statistics-probability/counting-permutations-and-combinations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Khan Academy (nCr formula and order-ignored rationale): https://www.khanacademy.org/math/precalculus/prob-comb/combinations/v/introduction-to-combinations
- Wikipedia (binomial coefficient interpretation as number of k-subsets; factorial form): https://en.wikipedia.org/wiki/Binomial_coefficient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OpenStax Contemporary Mathematics, Section 7.2 (permutation interpretation for ordered selections): https://openstax.org/books/contemporary-mathematics/pages/7-2-permutations
- Khan Academy (counting with/without repetition; permutation vs combination framing): https://www.khanacademy.org/math/statistics-probability/counting-permutations-and-combinations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OpenStax Contemporary Mathematics, Section 7.2 (nPr definition &amp; factorial approach): https://openstax.org/books/contemporary-mathematics/pages/7-2-permutations
- Khan Academy (nCr definition and counting overview): https://www.khanacademy.org/math/statistics-probability/counting-permutations-and-combinations
- Wikipedia (multiset/binomial coefficient factorial form as reference): https://en.wikipedia.org/wiki/Binomial_coefficient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48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CSC 250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9441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Permutations &amp; Combinations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CE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Counting methods for ordered vs. unordered selections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3246120"/>
            <a:ext cx="11094415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9808" y="3374136"/>
            <a:ext cx="1069207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Big idea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49808" y="3749040"/>
            <a:ext cx="10692079" cy="1344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If the arrangement/order matters → think PERMUTATIONS</a:t>
            </a:r>
            <a:endParaRPr lang="en-US" sz="18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If only the chosen group matters (order ignored) → think COMBINATIONS</a:t>
            </a:r>
            <a:endParaRPr lang="en-US" sz="1800" dirty="0"/>
          </a:p>
          <a:p>
            <a:pPr indent="0" marL="0">
              <a:lnSpc>
                <a:spcPct val="122000"/>
              </a:lnSpc>
              <a:buNone/>
            </a:pPr>
            <a:endParaRPr lang="en-US" sz="18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We’ll practice spotting which situation you’re in, then apply the right formula.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CSC 250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240280" y="146304"/>
            <a:ext cx="94027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goals &amp; vocabulary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731520"/>
            <a:ext cx="12191695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97280"/>
            <a:ext cx="5806440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9808" y="1225296"/>
            <a:ext cx="54041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 the end of this lesson you can…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49808" y="1600200"/>
            <a:ext cx="5404104" cy="1623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Decide if order matters in a counting problem</a:t>
            </a:r>
            <a:endParaRPr lang="en-US" sz="18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 factorial (!) and the Fundamental Counting Principle</a:t>
            </a:r>
            <a:endParaRPr lang="en-US" sz="18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Compute permutations (with/without repetition)</a:t>
            </a:r>
            <a:endParaRPr lang="en-US" sz="18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Compute combinations (choose r from n)</a:t>
            </a:r>
            <a:endParaRPr lang="en-US" sz="18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Explain your choice of method in one sentence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46520" y="1097280"/>
            <a:ext cx="5196535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47688" y="1225296"/>
            <a:ext cx="479419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Vocabulary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47688" y="1600200"/>
            <a:ext cx="4794199" cy="21168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n: total number of distinct items</a:t>
            </a:r>
            <a:endParaRPr lang="en-US" sz="18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r: number of items selected</a:t>
            </a:r>
            <a:endParaRPr lang="en-US" sz="1800" dirty="0"/>
          </a:p>
          <a:p>
            <a:pPr indent="0" marL="0">
              <a:lnSpc>
                <a:spcPct val="118000"/>
              </a:lnSpc>
              <a:buNone/>
            </a:pPr>
            <a:endParaRPr lang="en-US" sz="18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Permutation: ordered selection</a:t>
            </a:r>
            <a:endParaRPr lang="en-US" sz="18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Combination: unordered selection</a:t>
            </a:r>
            <a:endParaRPr lang="en-US" sz="1800" dirty="0"/>
          </a:p>
          <a:p>
            <a:pPr indent="0" marL="0">
              <a:lnSpc>
                <a:spcPct val="118000"/>
              </a:lnSpc>
              <a:buNone/>
            </a:pPr>
            <a:endParaRPr lang="en-US" sz="18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Factorial: n! = n·(n−1)·…·2·1, with 0! = 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Tip: Write “Order matters?” at the top of every problem.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CSC 250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240280" y="146304"/>
            <a:ext cx="94027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Warm-up: counting principle &amp; factorials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731520"/>
            <a:ext cx="12191695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97280"/>
            <a:ext cx="58064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9808" y="1225296"/>
            <a:ext cx="54041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Fundamental Counting Principle (FCP)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49808" y="1600200"/>
            <a:ext cx="5404104" cy="21168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a process has:</a:t>
            </a:r>
            <a:endParaRPr lang="en-US" sz="18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• a choices for step 1</a:t>
            </a:r>
            <a:endParaRPr lang="en-US" sz="18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• b choices for step 2</a:t>
            </a:r>
            <a:endParaRPr lang="en-US" sz="18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• c choices for step 3</a:t>
            </a:r>
            <a:endParaRPr lang="en-US" sz="18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then total outcomes = a · b · c.</a:t>
            </a:r>
            <a:endParaRPr lang="en-US" sz="1800" dirty="0"/>
          </a:p>
          <a:p>
            <a:pPr indent="0" marL="0">
              <a:lnSpc>
                <a:spcPct val="118000"/>
              </a:lnSpc>
              <a:buNone/>
            </a:pPr>
            <a:endParaRPr lang="en-US" sz="18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Works great when steps happen in sequence.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46520" y="1097280"/>
            <a:ext cx="5196535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47688" y="1225296"/>
            <a:ext cx="479419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47688" y="1600200"/>
            <a:ext cx="4794199" cy="2386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many 3-letter “IDs” can you make</a:t>
            </a:r>
            <a:endParaRPr lang="en-US" sz="18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letters must be distinct?</a:t>
            </a:r>
            <a:endParaRPr lang="en-US" sz="1800" dirty="0"/>
          </a:p>
          <a:p>
            <a:pPr indent="0" marL="0">
              <a:lnSpc>
                <a:spcPct val="118000"/>
              </a:lnSpc>
              <a:buNone/>
            </a:pPr>
            <a:endParaRPr lang="en-US" sz="18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1: 26 choices</a:t>
            </a:r>
            <a:endParaRPr lang="en-US" sz="18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2: 25 choices</a:t>
            </a:r>
            <a:endParaRPr lang="en-US" sz="18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3: 24 choices</a:t>
            </a:r>
            <a:endParaRPr lang="en-US" sz="1800" dirty="0"/>
          </a:p>
          <a:p>
            <a:pPr indent="0" marL="0">
              <a:lnSpc>
                <a:spcPct val="118000"/>
              </a:lnSpc>
              <a:buNone/>
            </a:pPr>
            <a:endParaRPr lang="en-US" sz="18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= 26·25·24 = 15,600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14400" y="5715000"/>
            <a:ext cx="4480560" cy="5303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5A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15568" y="5824728"/>
            <a:ext cx="40782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5A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n! = n·(n−1)·…·2·1   (0! = 1)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577840" y="5779008"/>
            <a:ext cx="1097280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77840" y="5852160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Warm-up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Factorials show up when “choices decrease by 1 each step.”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CSC 250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240280" y="146304"/>
            <a:ext cx="94027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Permutations (order matters, no repeats)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731520"/>
            <a:ext cx="12191695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143000"/>
            <a:ext cx="5806440" cy="5303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5A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252728"/>
            <a:ext cx="54041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5A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 r = n! / (n−r)!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46520" y="1225296"/>
            <a:ext cx="1097280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1298448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 matters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874520"/>
            <a:ext cx="58064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49808" y="2002536"/>
            <a:ext cx="54041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to use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49808" y="2377440"/>
            <a:ext cx="5404104" cy="15773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Selecting r distinct items from n</a:t>
            </a:r>
            <a:endParaRPr lang="en-US" sz="18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AND arranging them in order</a:t>
            </a:r>
            <a:endParaRPr lang="en-US" sz="1800" dirty="0"/>
          </a:p>
          <a:p>
            <a:pPr indent="0" marL="0">
              <a:lnSpc>
                <a:spcPct val="118000"/>
              </a:lnSpc>
              <a:buNone/>
            </a:pPr>
            <a:endParaRPr lang="en-US" sz="18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Common cues:</a:t>
            </a:r>
            <a:endParaRPr lang="en-US" sz="18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“arrange”, “rank”, “line up”, “password with no repeats”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46520" y="1874520"/>
            <a:ext cx="5196535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47688" y="2002536"/>
            <a:ext cx="479419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(step-by-step)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47688" y="2377440"/>
            <a:ext cx="4794199" cy="21168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many ways to award gold, silver, bronze</a:t>
            </a:r>
            <a:endParaRPr lang="en-US" sz="18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among 10 finalists?</a:t>
            </a:r>
            <a:endParaRPr lang="en-US" sz="1800" dirty="0"/>
          </a:p>
          <a:p>
            <a:pPr indent="0" marL="0">
              <a:lnSpc>
                <a:spcPct val="118000"/>
              </a:lnSpc>
              <a:buNone/>
            </a:pPr>
            <a:endParaRPr lang="en-US" sz="18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 = 10, r = 3</a:t>
            </a:r>
            <a:endParaRPr lang="en-US" sz="18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10P3 = 10! / 7! = 10·9·8 = 720</a:t>
            </a:r>
            <a:endParaRPr lang="en-US" sz="1800" dirty="0"/>
          </a:p>
          <a:p>
            <a:pPr indent="0" marL="0">
              <a:lnSpc>
                <a:spcPct val="118000"/>
              </a:lnSpc>
              <a:buNone/>
            </a:pPr>
            <a:endParaRPr lang="en-US" sz="18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Reason: medals are different → order matters.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Shortcut: nPr multiplies r decreasing terms: n·(n−1)·…·(n−r+1).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CSC 250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240280" y="146304"/>
            <a:ext cx="94027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Permutations with repetition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731520"/>
            <a:ext cx="12191695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97280"/>
            <a:ext cx="5806440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9808" y="1225296"/>
            <a:ext cx="54041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 A: “r slots” with repeats allowed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49808" y="1600200"/>
            <a:ext cx="5404104" cy="15773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4-digit PIN (0–9), digits can repeat</a:t>
            </a:r>
            <a:endParaRPr lang="en-US" sz="1800" dirty="0"/>
          </a:p>
          <a:p>
            <a:pPr indent="0" marL="0">
              <a:lnSpc>
                <a:spcPct val="118000"/>
              </a:lnSpc>
              <a:buNone/>
            </a:pPr>
            <a:endParaRPr lang="en-US" sz="18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slot has 10 choices → 10·10·10·10 = 10⁴ = 10,000</a:t>
            </a:r>
            <a:endParaRPr lang="en-US" sz="1800" dirty="0"/>
          </a:p>
          <a:p>
            <a:pPr indent="0" marL="0">
              <a:lnSpc>
                <a:spcPct val="118000"/>
              </a:lnSpc>
              <a:buNone/>
            </a:pPr>
            <a:endParaRPr lang="en-US" sz="18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FCP (choices don’t shrink).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46520" y="1097280"/>
            <a:ext cx="5196535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47688" y="1225296"/>
            <a:ext cx="479419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 B: arrangements of a multiset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47688" y="1600200"/>
            <a:ext cx="4794199" cy="2386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distinct rearrangements of “BALLOON”</a:t>
            </a:r>
            <a:endParaRPr lang="en-US" sz="1800" dirty="0"/>
          </a:p>
          <a:p>
            <a:pPr indent="0" marL="0">
              <a:lnSpc>
                <a:spcPct val="118000"/>
              </a:lnSpc>
              <a:buNone/>
            </a:pPr>
            <a:endParaRPr lang="en-US" sz="18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letters: 7</a:t>
            </a:r>
            <a:endParaRPr lang="en-US" sz="18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Repeated letters: L×2, O×2</a:t>
            </a:r>
            <a:endParaRPr lang="en-US" sz="1800" dirty="0"/>
          </a:p>
          <a:p>
            <a:pPr indent="0" marL="0">
              <a:lnSpc>
                <a:spcPct val="118000"/>
              </a:lnSpc>
              <a:buNone/>
            </a:pPr>
            <a:endParaRPr lang="en-US" sz="18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 = 7! / (2!·2!) = 1,260</a:t>
            </a:r>
            <a:endParaRPr lang="en-US" sz="1800" dirty="0"/>
          </a:p>
          <a:p>
            <a:pPr indent="0" marL="0">
              <a:lnSpc>
                <a:spcPct val="118000"/>
              </a:lnSpc>
              <a:buNone/>
            </a:pPr>
            <a:endParaRPr lang="en-US" sz="18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Reason: divide out swaps of identical letters.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CSC 250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240280" y="146304"/>
            <a:ext cx="94027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Combinations (order does NOT matter)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731520"/>
            <a:ext cx="12191695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143000"/>
            <a:ext cx="5806440" cy="5303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5A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252728"/>
            <a:ext cx="54041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5A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nC r = n! / (r! (n−r)!)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46520" y="1225296"/>
            <a:ext cx="1097280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1298448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 ignored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874520"/>
            <a:ext cx="58064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49808" y="2002536"/>
            <a:ext cx="54041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49808" y="2377440"/>
            <a:ext cx="5404104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Combinations count “choose r out of n” groups.</a:t>
            </a:r>
            <a:endParaRPr lang="en-US" sz="1800" dirty="0"/>
          </a:p>
          <a:p>
            <a:pPr indent="0" marL="0">
              <a:lnSpc>
                <a:spcPct val="118000"/>
              </a:lnSpc>
              <a:buNone/>
            </a:pPr>
            <a:endParaRPr lang="en-US" sz="18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divide by r!?</a:t>
            </a:r>
            <a:endParaRPr lang="en-US" sz="18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Because each chosen set can be arranged in r! orders,</a:t>
            </a:r>
            <a:endParaRPr lang="en-US" sz="18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 we want to count it once.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46520" y="1874520"/>
            <a:ext cx="5196535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47688" y="2002536"/>
            <a:ext cx="479419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47688" y="2377440"/>
            <a:ext cx="4794199" cy="19817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7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many 5-person teams can be formed</a:t>
            </a:r>
            <a:endParaRPr lang="en-US" sz="17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7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a class of 28?</a:t>
            </a:r>
            <a:endParaRPr lang="en-US" sz="1700" dirty="0"/>
          </a:p>
          <a:p>
            <a:pPr indent="0" marL="0">
              <a:lnSpc>
                <a:spcPct val="116000"/>
              </a:lnSpc>
              <a:buNone/>
            </a:pPr>
            <a:endParaRPr lang="en-US" sz="17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7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 = 28, r = 5</a:t>
            </a:r>
            <a:endParaRPr lang="en-US" sz="17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7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28C5 = 28! / (5!·23!)</a:t>
            </a:r>
            <a:endParaRPr lang="en-US" sz="17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7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= (28·27·26·25·24) / (5·4·3·2·1)</a:t>
            </a:r>
            <a:endParaRPr lang="en-US" sz="17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7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= 98,280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Sanity check: nCr = nC(n−r). Choosing 5 to be “in” equals choosing 23 to be “out.”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CSC 250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240280" y="146304"/>
            <a:ext cx="94027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Which one is it? (spot the method)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731520"/>
            <a:ext cx="12191695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97280"/>
            <a:ext cx="11094415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9808" y="1225296"/>
            <a:ext cx="1069207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decision checklist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49808" y="1600200"/>
            <a:ext cx="10692079" cy="31958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1) Are we selecting items AND arranging them?  → permutation</a:t>
            </a:r>
            <a:endParaRPr lang="en-US" sz="18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2) Are we selecting a group where order is irrelevant? → combination</a:t>
            </a:r>
            <a:endParaRPr lang="en-US" sz="18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3) Are repeats allowed? (same item can be used again?)</a:t>
            </a:r>
            <a:endParaRPr lang="en-US" sz="1800" dirty="0"/>
          </a:p>
          <a:p>
            <a:pPr indent="0" marL="0">
              <a:lnSpc>
                <a:spcPct val="118000"/>
              </a:lnSpc>
              <a:buNone/>
            </a:pPr>
            <a:endParaRPr lang="en-US" sz="18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Practice:</a:t>
            </a:r>
            <a:endParaRPr lang="en-US" sz="18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A. How many ways to choose a president and vice-president from 12 members?</a:t>
            </a:r>
            <a:endParaRPr lang="en-US" sz="18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B. How many ways to choose 2 pizza toppings from 9 options?</a:t>
            </a:r>
            <a:endParaRPr lang="en-US" sz="18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C. How many 6-character passwords using A–Z if repeats allowed?</a:t>
            </a:r>
            <a:endParaRPr lang="en-US" sz="1800" dirty="0"/>
          </a:p>
          <a:p>
            <a:pPr indent="0" marL="0">
              <a:lnSpc>
                <a:spcPct val="118000"/>
              </a:lnSpc>
              <a:buNone/>
            </a:pPr>
            <a:endParaRPr lang="en-US" sz="18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Answers:</a:t>
            </a:r>
            <a:endParaRPr lang="en-US" sz="18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A: 12P2 = 132     B: 9C2 = 36     C: 26⁶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Try rewriting the question using the words “arrange” or “choose” to reveal the type.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CSC 250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240280" y="146304"/>
            <a:ext cx="94027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Exit ticket (5 minutes) + recap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731520"/>
            <a:ext cx="12191695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97280"/>
            <a:ext cx="5806440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9808" y="1225296"/>
            <a:ext cx="54041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Exit ticket (do in pairs)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49808" y="1600200"/>
            <a:ext cx="5404104" cy="1847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1) A lock uses 3 distinct letters from A–Z. How many codes?</a:t>
            </a:r>
            <a:endParaRPr lang="en-US" sz="18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2) From 15 books, how many ways to choose 4 to take on a trip?</a:t>
            </a:r>
            <a:endParaRPr lang="en-US" sz="18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3) How many distinct arrangements of “MISSISSIPPI”?</a:t>
            </a:r>
            <a:endParaRPr lang="en-US" sz="18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4) A committee needs a chair, secretary, and treasurer from 9 people. How many?</a:t>
            </a:r>
            <a:endParaRPr lang="en-US" sz="1800" dirty="0"/>
          </a:p>
          <a:p>
            <a:pPr indent="0" marL="0">
              <a:lnSpc>
                <a:spcPct val="118000"/>
              </a:lnSpc>
              <a:buNone/>
            </a:pPr>
            <a:endParaRPr lang="en-US" sz="18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Write: method + expression (you don’t have to fully expand factorials).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46520" y="1097280"/>
            <a:ext cx="5196535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47688" y="1225296"/>
            <a:ext cx="479419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Recap (one slide)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47688" y="1600200"/>
            <a:ext cx="4794199" cy="21168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Permutation (no repeats): nPr = n!/(n−r)!</a:t>
            </a:r>
            <a:endParaRPr lang="en-US" sz="18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Combination: nCr = n!/(r!(n−r)!)</a:t>
            </a:r>
            <a:endParaRPr lang="en-US" sz="18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Repeats allowed in “slots”: use FCP (e.g., 10⁴, 26⁶)</a:t>
            </a:r>
            <a:endParaRPr lang="en-US" sz="18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Multiset arrangements: n!/(a!b!c! …)</a:t>
            </a:r>
            <a:endParaRPr lang="en-US" sz="1800" dirty="0"/>
          </a:p>
          <a:p>
            <a:pPr indent="0" marL="0">
              <a:lnSpc>
                <a:spcPct val="118000"/>
              </a:lnSpc>
              <a:buNone/>
            </a:pPr>
            <a:endParaRPr lang="en-US" sz="18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 common mistake:</a:t>
            </a:r>
            <a:endParaRPr lang="en-US" sz="18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Treating “choose” as ordered (or “rank” as unordered).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Next: combinations show up everywhere in probability and the binomial theorem.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2026-04-06T04:32:05Z</dcterms:created>
  <dcterms:modified xsi:type="dcterms:W3CDTF">2026-04-06T04:32:05Z</dcterms:modified>
</cp:coreProperties>
</file>